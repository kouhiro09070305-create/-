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んにちは。東大宮学生寮でRAをしている○○です。今日は5分ほど、実際にRAをしている立場から、RAの1年の流れ、おもな仕事、寮のイベント、やってみて感じたことをお話しします。よろしくお願い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ずRAの1年の流れです。いちばん忙しいのは春で、新しい寮生の入寮サポートや新入生歓迎会、履修相談会があります。夏と秋にはクリーン作戦、秋には防災訓練があります。長期休みの前後には寮生の帰省などの対応もあります。冬は新寮生の選考の手伝いと、次のRAへの引継ぎです。これとは別に、毎月RAミーティングとフロアミーティングが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に、RAのおもな仕事です。1つ目はフロアミーティングで、担当フロアの寮生に集まってもらい、ルールの確認や連絡をします。2つ目は寮生の相談やトラブルへの対応です。たとえば騒音の問題があったときは、まず両方から話を聞いて、必要なら寮母さんとも相談しながら解決します。3つ目は寮母さんや大学との連携で、月1回のRAミーティングで寮生の声を伝えています。ほかにも、報告書や議事録の作成、入退寮の手伝い、防災訓練での誘導などが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寮のイベントを紹介します。左は4月の新入生歓迎会です。新しく入った寮生と在寮生が初めて顔を合わせる会で、RAが企画から当日の司会まで担当します。右は5月のクリーン大作戦で、寮生みんなで寮のまわりを掃除します。ほかにもビンゴ大会などがあり、RAのアイデアで新しいイベントを企画することも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をやってみてよかったことは、学年や学科をこえて仲間ができたこと、寮生から「ありがとう」と言ってもらえること、そして人前で話すことに慣れたことです。大変だったのは、課題が多い時期との両立と、寮生に注意をしなければいけないときです。でも、困ったときはRA同士で相談できるので、一人で抱え込むこと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、応募を考えている皆さんへ。RAに特別なスキルや経験はいりません。わからないことは先輩RAがサポートしますし、寮母さんや大学も相談に乗ってくれます。少しでも興味があれば、ぜひ応募してみてください。このあと個別に質問も受け付けていますので、気軽に声をかけてください。ご清聴ありがとうござ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白紙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 スライド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69164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F3864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 descr="/tmp/claude-0/-home-user--/df02d968-b5f5-5c15-93e8-b428a1ab583e/scratchpad/in/raz/ppt/media/image1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正方形/長方形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>
              <a:alpha val="75000"/>
            </a:srgbClr>
          </a:solidFill>
          <a:ln/>
        </p:spPr>
      </p:sp>
      <p:sp>
        <p:nvSpPr>
          <p:cNvPr id="4" name="テキスト ボックス 4"/>
          <p:cNvSpPr txBox="1"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東大宮学生寮</a:t>
            </a:r>
            <a:endParaRPr lang="en-US" sz="2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1691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RA募集説明会</a:t>
            </a:r>
            <a:endParaRPr lang="en-US" sz="54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現役RAが、RAの1年と仕事について紹介します</a:t>
            </a:r>
            <a:endParaRPr lang="en-US" sz="20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9D9"/>
                </a:solidFill>
              </a:rPr>
              <a:t>2026年10月23日（金）　東大宮学生寮 RA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3864"/>
                </a:solidFill>
              </a:rPr>
              <a:t>RAの1年</a:t>
            </a:r>
            <a:endParaRPr lang="en-US" sz="3400" dirty="0"/>
          </a:p>
        </p:txBody>
      </p:sp>
      <p:sp>
        <p:nvSpPr>
          <p:cNvPr id="3" name="矢印: 五方向 7"/>
          <p:cNvSpPr/>
          <p:nvPr/>
        </p:nvSpPr>
        <p:spPr>
          <a:xfrm>
            <a:off x="457200" y="1143000"/>
            <a:ext cx="2103120" cy="685800"/>
          </a:xfrm>
          <a:prstGeom prst="homePlate">
            <a:avLst/>
          </a:prstGeom>
          <a:solidFill>
            <a:srgbClr val="2E75B6"/>
          </a:solidFill>
          <a:ln/>
        </p:spPr>
      </p:sp>
      <p:sp>
        <p:nvSpPr>
          <p:cNvPr id="4" name="テキスト ボックス 8"/>
          <p:cNvSpPr txBox="1"/>
          <p:nvPr/>
        </p:nvSpPr>
        <p:spPr>
          <a:xfrm>
            <a:off x="731520" y="11430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春</a:t>
            </a:r>
            <a:endParaRPr lang="en-US" sz="2600" dirty="0"/>
          </a:p>
        </p:txBody>
      </p:sp>
      <p:sp>
        <p:nvSpPr>
          <p:cNvPr id="5" name="テキスト ボックス 9"/>
          <p:cNvSpPr txBox="1"/>
          <p:nvPr/>
        </p:nvSpPr>
        <p:spPr>
          <a:xfrm>
            <a:off x="502920" y="19385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</a:rPr>
              <a:t>2〜4月</a:t>
            </a:r>
            <a:endParaRPr lang="en-US" sz="1800" dirty="0"/>
          </a:p>
        </p:txBody>
      </p:sp>
      <p:sp>
        <p:nvSpPr>
          <p:cNvPr id="6" name="テキスト ボックス 10"/>
          <p:cNvSpPr txBox="1"/>
          <p:nvPr/>
        </p:nvSpPr>
        <p:spPr>
          <a:xfrm>
            <a:off x="502920" y="2377440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入寮サポート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新入生歓迎会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履修相談会</a:t>
            </a:r>
            <a:endParaRPr lang="en-US" sz="2000" dirty="0"/>
          </a:p>
        </p:txBody>
      </p:sp>
      <p:sp>
        <p:nvSpPr>
          <p:cNvPr id="7" name="矢印: 山形 11"/>
          <p:cNvSpPr/>
          <p:nvPr/>
        </p:nvSpPr>
        <p:spPr>
          <a:xfrm>
            <a:off x="2468880" y="1143000"/>
            <a:ext cx="2103120" cy="685800"/>
          </a:xfrm>
          <a:prstGeom prst="chevron">
            <a:avLst/>
          </a:prstGeom>
          <a:solidFill>
            <a:srgbClr val="2E75B6"/>
          </a:solidFill>
          <a:ln/>
        </p:spPr>
      </p:sp>
      <p:sp>
        <p:nvSpPr>
          <p:cNvPr id="8" name="テキスト ボックス 12"/>
          <p:cNvSpPr txBox="1"/>
          <p:nvPr/>
        </p:nvSpPr>
        <p:spPr>
          <a:xfrm>
            <a:off x="2743200" y="11430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夏</a:t>
            </a:r>
            <a:endParaRPr lang="en-US" sz="2600" dirty="0"/>
          </a:p>
        </p:txBody>
      </p:sp>
      <p:sp>
        <p:nvSpPr>
          <p:cNvPr id="9" name="テキスト ボックス 13"/>
          <p:cNvSpPr txBox="1"/>
          <p:nvPr/>
        </p:nvSpPr>
        <p:spPr>
          <a:xfrm>
            <a:off x="2514600" y="19385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</a:rPr>
              <a:t>5〜8月</a:t>
            </a:r>
            <a:endParaRPr lang="en-US" sz="1800" dirty="0"/>
          </a:p>
        </p:txBody>
      </p:sp>
      <p:sp>
        <p:nvSpPr>
          <p:cNvPr id="10" name="テキスト ボックス 14"/>
          <p:cNvSpPr txBox="1"/>
          <p:nvPr/>
        </p:nvSpPr>
        <p:spPr>
          <a:xfrm>
            <a:off x="2514600" y="2377440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クリーン作戦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夏休みの対応</a:t>
            </a:r>
            <a:endParaRPr lang="en-US" sz="2000" dirty="0"/>
          </a:p>
        </p:txBody>
      </p:sp>
      <p:sp>
        <p:nvSpPr>
          <p:cNvPr id="11" name="矢印: 山形 15"/>
          <p:cNvSpPr/>
          <p:nvPr/>
        </p:nvSpPr>
        <p:spPr>
          <a:xfrm>
            <a:off x="4480560" y="1143000"/>
            <a:ext cx="2103120" cy="685800"/>
          </a:xfrm>
          <a:prstGeom prst="chevron">
            <a:avLst/>
          </a:prstGeom>
          <a:solidFill>
            <a:srgbClr val="2E75B6"/>
          </a:solidFill>
          <a:ln/>
        </p:spPr>
      </p:sp>
      <p:sp>
        <p:nvSpPr>
          <p:cNvPr id="12" name="テキスト ボックス 16"/>
          <p:cNvSpPr txBox="1"/>
          <p:nvPr/>
        </p:nvSpPr>
        <p:spPr>
          <a:xfrm>
            <a:off x="4754880" y="11430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秋</a:t>
            </a:r>
            <a:endParaRPr lang="en-US" sz="2600" dirty="0"/>
          </a:p>
        </p:txBody>
      </p:sp>
      <p:sp>
        <p:nvSpPr>
          <p:cNvPr id="13" name="テキスト ボックス 17"/>
          <p:cNvSpPr txBox="1"/>
          <p:nvPr/>
        </p:nvSpPr>
        <p:spPr>
          <a:xfrm>
            <a:off x="4526280" y="19385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</a:rPr>
              <a:t>9〜12月</a:t>
            </a:r>
            <a:endParaRPr lang="en-US" sz="1800" dirty="0"/>
          </a:p>
        </p:txBody>
      </p:sp>
      <p:sp>
        <p:nvSpPr>
          <p:cNvPr id="14" name="テキスト ボックス 18"/>
          <p:cNvSpPr txBox="1"/>
          <p:nvPr/>
        </p:nvSpPr>
        <p:spPr>
          <a:xfrm>
            <a:off x="4526280" y="2377440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防災訓練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クリーン作戦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冬休みの対応</a:t>
            </a:r>
            <a:endParaRPr lang="en-US" sz="2000" dirty="0"/>
          </a:p>
        </p:txBody>
      </p:sp>
      <p:sp>
        <p:nvSpPr>
          <p:cNvPr id="15" name="矢印: 山形 19"/>
          <p:cNvSpPr/>
          <p:nvPr/>
        </p:nvSpPr>
        <p:spPr>
          <a:xfrm>
            <a:off x="6492240" y="1143000"/>
            <a:ext cx="2103120" cy="685800"/>
          </a:xfrm>
          <a:prstGeom prst="chevron">
            <a:avLst/>
          </a:prstGeom>
          <a:solidFill>
            <a:srgbClr val="2E75B6"/>
          </a:solidFill>
          <a:ln/>
        </p:spPr>
      </p:sp>
      <p:sp>
        <p:nvSpPr>
          <p:cNvPr id="16" name="テキスト ボックス 20"/>
          <p:cNvSpPr txBox="1"/>
          <p:nvPr/>
        </p:nvSpPr>
        <p:spPr>
          <a:xfrm>
            <a:off x="6766560" y="11430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冬</a:t>
            </a:r>
            <a:endParaRPr lang="en-US" sz="2600" dirty="0"/>
          </a:p>
        </p:txBody>
      </p:sp>
      <p:sp>
        <p:nvSpPr>
          <p:cNvPr id="17" name="テキスト ボックス 21"/>
          <p:cNvSpPr txBox="1"/>
          <p:nvPr/>
        </p:nvSpPr>
        <p:spPr>
          <a:xfrm>
            <a:off x="6537960" y="19385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</a:rPr>
              <a:t>1月〜</a:t>
            </a:r>
            <a:endParaRPr lang="en-US" sz="1800" dirty="0"/>
          </a:p>
        </p:txBody>
      </p:sp>
      <p:sp>
        <p:nvSpPr>
          <p:cNvPr id="18" name="テキスト ボックス 22"/>
          <p:cNvSpPr txBox="1"/>
          <p:nvPr/>
        </p:nvSpPr>
        <p:spPr>
          <a:xfrm>
            <a:off x="6537960" y="2377440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新寮生の選考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RAの引継ぎ</a:t>
            </a:r>
            <a:endParaRPr lang="en-US" sz="2000" dirty="0"/>
          </a:p>
        </p:txBody>
      </p:sp>
      <p:sp>
        <p:nvSpPr>
          <p:cNvPr id="19" name="正方形/長方形 23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DEEBF7"/>
          </a:solidFill>
          <a:ln/>
        </p:spPr>
      </p:sp>
      <p:sp>
        <p:nvSpPr>
          <p:cNvPr id="20" name="テキスト ボックス 24"/>
          <p:cNvSpPr txBox="1"/>
          <p:nvPr/>
        </p:nvSpPr>
        <p:spPr>
          <a:xfrm>
            <a:off x="685800" y="38862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</a:rPr>
              <a:t>毎月</a:t>
            </a:r>
            <a:endParaRPr lang="en-US" sz="2000" dirty="0"/>
          </a:p>
        </p:txBody>
      </p:sp>
      <p:sp>
        <p:nvSpPr>
          <p:cNvPr id="21" name="テキスト ボックス 25"/>
          <p:cNvSpPr txBox="1"/>
          <p:nvPr/>
        </p:nvSpPr>
        <p:spPr>
          <a:xfrm>
            <a:off x="1508760" y="38862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2626"/>
                </a:solidFill>
              </a:rPr>
              <a:t>RAミーティング・フロアミーティング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3864"/>
                </a:solidFill>
              </a:rPr>
              <a:t>RAのおもな仕事</a:t>
            </a:r>
            <a:endParaRPr lang="en-US" sz="3400" dirty="0"/>
          </a:p>
        </p:txBody>
      </p:sp>
      <p:sp>
        <p:nvSpPr>
          <p:cNvPr id="3" name="テキスト ボックス 26"/>
          <p:cNvSpPr txBox="1"/>
          <p:nvPr/>
        </p:nvSpPr>
        <p:spPr>
          <a:xfrm>
            <a:off x="457200" y="11430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D7D31"/>
                </a:solidFill>
              </a:rPr>
              <a:t>1</a:t>
            </a:r>
            <a:endParaRPr lang="en-US" sz="4400" dirty="0"/>
          </a:p>
        </p:txBody>
      </p:sp>
      <p:sp>
        <p:nvSpPr>
          <p:cNvPr id="4" name="テキスト ボックス 27"/>
          <p:cNvSpPr txBox="1"/>
          <p:nvPr/>
        </p:nvSpPr>
        <p:spPr>
          <a:xfrm>
            <a:off x="1188720" y="11612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</a:rPr>
              <a:t>フロアミーティング</a:t>
            </a:r>
            <a:endParaRPr lang="en-US" sz="2400" dirty="0"/>
          </a:p>
        </p:txBody>
      </p:sp>
      <p:sp>
        <p:nvSpPr>
          <p:cNvPr id="5" name="テキスト ボックス 28"/>
          <p:cNvSpPr txBox="1"/>
          <p:nvPr/>
        </p:nvSpPr>
        <p:spPr>
          <a:xfrm>
            <a:off x="1188720" y="15727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2626"/>
                </a:solidFill>
              </a:rPr>
              <a:t>担当フロアの寮生と、ルールや連絡事項を共有します</a:t>
            </a:r>
            <a:endParaRPr lang="en-US" sz="2000" dirty="0"/>
          </a:p>
        </p:txBody>
      </p:sp>
      <p:sp>
        <p:nvSpPr>
          <p:cNvPr id="6" name="テキスト ボックス 29"/>
          <p:cNvSpPr txBox="1"/>
          <p:nvPr/>
        </p:nvSpPr>
        <p:spPr>
          <a:xfrm>
            <a:off x="457200" y="20574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D7D31"/>
                </a:solidFill>
              </a:rPr>
              <a:t>2</a:t>
            </a:r>
            <a:endParaRPr lang="en-US" sz="4400" dirty="0"/>
          </a:p>
        </p:txBody>
      </p:sp>
      <p:sp>
        <p:nvSpPr>
          <p:cNvPr id="7" name="テキスト ボックス 30"/>
          <p:cNvSpPr txBox="1"/>
          <p:nvPr/>
        </p:nvSpPr>
        <p:spPr>
          <a:xfrm>
            <a:off x="1188720" y="20756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</a:rPr>
              <a:t>寮生の相談・トラブル対応</a:t>
            </a:r>
            <a:endParaRPr lang="en-US" sz="2400" dirty="0"/>
          </a:p>
        </p:txBody>
      </p:sp>
      <p:sp>
        <p:nvSpPr>
          <p:cNvPr id="8" name="テキスト ボックス 31"/>
          <p:cNvSpPr txBox="1"/>
          <p:nvPr/>
        </p:nvSpPr>
        <p:spPr>
          <a:xfrm>
            <a:off x="1188720" y="24871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2626"/>
                </a:solidFill>
              </a:rPr>
              <a:t>騒音などの問題は、まず両方から話を聞いて解決します</a:t>
            </a:r>
            <a:endParaRPr lang="en-US" sz="2000" dirty="0"/>
          </a:p>
        </p:txBody>
      </p:sp>
      <p:sp>
        <p:nvSpPr>
          <p:cNvPr id="9" name="テキスト ボックス 32"/>
          <p:cNvSpPr txBox="1"/>
          <p:nvPr/>
        </p:nvSpPr>
        <p:spPr>
          <a:xfrm>
            <a:off x="457200" y="29718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D7D31"/>
                </a:solidFill>
              </a:rPr>
              <a:t>3</a:t>
            </a:r>
            <a:endParaRPr lang="en-US" sz="4400" dirty="0"/>
          </a:p>
        </p:txBody>
      </p:sp>
      <p:sp>
        <p:nvSpPr>
          <p:cNvPr id="10" name="テキスト ボックス 33"/>
          <p:cNvSpPr txBox="1"/>
          <p:nvPr/>
        </p:nvSpPr>
        <p:spPr>
          <a:xfrm>
            <a:off x="1188720" y="29900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</a:rPr>
              <a:t>寮母さん・大学との連携</a:t>
            </a:r>
            <a:endParaRPr lang="en-US" sz="2400" dirty="0"/>
          </a:p>
        </p:txBody>
      </p:sp>
      <p:sp>
        <p:nvSpPr>
          <p:cNvPr id="11" name="テキスト ボックス 34"/>
          <p:cNvSpPr txBox="1"/>
          <p:nvPr/>
        </p:nvSpPr>
        <p:spPr>
          <a:xfrm>
            <a:off x="1188720" y="34015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2626"/>
                </a:solidFill>
              </a:rPr>
              <a:t>月1回のRAミーティングで、寮生の声を伝えます</a:t>
            </a:r>
            <a:endParaRPr lang="en-US" sz="2000" dirty="0"/>
          </a:p>
        </p:txBody>
      </p:sp>
      <p:sp>
        <p:nvSpPr>
          <p:cNvPr id="12" name="正方形/長方形 35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DEEBF7"/>
          </a:solidFill>
          <a:ln/>
        </p:spPr>
      </p:sp>
      <p:sp>
        <p:nvSpPr>
          <p:cNvPr id="13" name="テキスト ボックス 36"/>
          <p:cNvSpPr txBox="1"/>
          <p:nvPr/>
        </p:nvSpPr>
        <p:spPr>
          <a:xfrm>
            <a:off x="685800" y="39319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ほかにも</a:t>
            </a:r>
            <a:endParaRPr lang="en-US" sz="1800" dirty="0"/>
          </a:p>
        </p:txBody>
      </p:sp>
      <p:sp>
        <p:nvSpPr>
          <p:cNvPr id="14" name="テキスト ボックス 37"/>
          <p:cNvSpPr txBox="1"/>
          <p:nvPr/>
        </p:nvSpPr>
        <p:spPr>
          <a:xfrm>
            <a:off x="1828800" y="39319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</a:rPr>
              <a:t>報告書・議事録の作成、入退寮の補助、防災訓練の誘導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3864"/>
                </a:solidFill>
              </a:rPr>
              <a:t>寮のイベント</a:t>
            </a:r>
            <a:endParaRPr lang="en-US" sz="3400" dirty="0"/>
          </a:p>
        </p:txBody>
      </p:sp>
      <p:pic>
        <p:nvPicPr>
          <p:cNvPr id="3" name="図 38" descr="/tmp/claude-0/-home-user--/df02d968-b5f5-5c15-93e8-b428a1ab583e/scratchpad/in/raz/ppt/media/image1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3977640" cy="2286000"/>
          </a:xfrm>
          <a:prstGeom prst="rect">
            <a:avLst/>
          </a:prstGeom>
        </p:spPr>
      </p:pic>
      <p:sp>
        <p:nvSpPr>
          <p:cNvPr id="4" name="テキスト ボックス 39"/>
          <p:cNvSpPr txBox="1"/>
          <p:nvPr/>
        </p:nvSpPr>
        <p:spPr>
          <a:xfrm>
            <a:off x="457200" y="34747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</a:rPr>
              <a:t>4月　新入生歓迎会</a:t>
            </a:r>
            <a:endParaRPr lang="en-US" sz="2200" dirty="0"/>
          </a:p>
        </p:txBody>
      </p:sp>
      <p:sp>
        <p:nvSpPr>
          <p:cNvPr id="5" name="テキスト ボックス 40"/>
          <p:cNvSpPr txBox="1"/>
          <p:nvPr/>
        </p:nvSpPr>
        <p:spPr>
          <a:xfrm>
            <a:off x="457200" y="391363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</a:rPr>
              <a:t>新入生と在寮生の顔合わせの会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</a:rPr>
              <a:t>RAが企画と司会を担当します</a:t>
            </a:r>
            <a:endParaRPr lang="en-US" sz="1800" dirty="0"/>
          </a:p>
        </p:txBody>
      </p:sp>
      <p:pic>
        <p:nvPicPr>
          <p:cNvPr id="6" name="図 41" descr="/tmp/claude-0/-home-user--/df02d968-b5f5-5c15-93e8-b428a1ab583e/scratchpad/in/raz/ppt/media/image16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1097280"/>
            <a:ext cx="3977640" cy="2286000"/>
          </a:xfrm>
          <a:prstGeom prst="rect">
            <a:avLst/>
          </a:prstGeom>
        </p:spPr>
      </p:pic>
      <p:sp>
        <p:nvSpPr>
          <p:cNvPr id="7" name="テキスト ボックス 42"/>
          <p:cNvSpPr txBox="1"/>
          <p:nvPr/>
        </p:nvSpPr>
        <p:spPr>
          <a:xfrm>
            <a:off x="4709160" y="34747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</a:rPr>
              <a:t>5月　クリーン大作戦</a:t>
            </a:r>
            <a:endParaRPr lang="en-US" sz="2200" dirty="0"/>
          </a:p>
        </p:txBody>
      </p:sp>
      <p:sp>
        <p:nvSpPr>
          <p:cNvPr id="8" name="テキスト ボックス 43"/>
          <p:cNvSpPr txBox="1"/>
          <p:nvPr/>
        </p:nvSpPr>
        <p:spPr>
          <a:xfrm>
            <a:off x="4709160" y="391363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</a:rPr>
              <a:t>寮生みんなで寮のまわりを掃除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</a:rPr>
              <a:t>秋にも行っています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3864"/>
                </a:solidFill>
              </a:rPr>
              <a:t>RAをやってみて</a:t>
            </a:r>
            <a:endParaRPr lang="en-US" sz="3400" dirty="0"/>
          </a:p>
        </p:txBody>
      </p:sp>
      <p:sp>
        <p:nvSpPr>
          <p:cNvPr id="3" name="正方形/長方形 44"/>
          <p:cNvSpPr/>
          <p:nvPr/>
        </p:nvSpPr>
        <p:spPr>
          <a:xfrm>
            <a:off x="457200" y="1143000"/>
            <a:ext cx="4023360" cy="3474720"/>
          </a:xfrm>
          <a:prstGeom prst="rect">
            <a:avLst/>
          </a:prstGeom>
          <a:solidFill>
            <a:srgbClr val="DEEBF7"/>
          </a:solidFill>
          <a:ln/>
        </p:spPr>
      </p:sp>
      <p:sp>
        <p:nvSpPr>
          <p:cNvPr id="4" name="テキスト ボックス 45"/>
          <p:cNvSpPr txBox="1"/>
          <p:nvPr/>
        </p:nvSpPr>
        <p:spPr>
          <a:xfrm>
            <a:off x="7315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5B6"/>
                </a:solidFill>
              </a:rPr>
              <a:t>よかったこと</a:t>
            </a:r>
            <a:endParaRPr lang="en-US" sz="2400" dirty="0"/>
          </a:p>
        </p:txBody>
      </p:sp>
      <p:sp>
        <p:nvSpPr>
          <p:cNvPr id="5" name="テキスト ボックス 46"/>
          <p:cNvSpPr txBox="1"/>
          <p:nvPr/>
        </p:nvSpPr>
        <p:spPr>
          <a:xfrm>
            <a:off x="731520" y="192024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学年をこえた仲間ができた</a:t>
            </a:r>
            <a:endParaRPr lang="en-US" sz="20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「ありがとう」と言われる</a:t>
            </a:r>
            <a:endParaRPr lang="en-US" sz="20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人前で話すのに慣れた</a:t>
            </a:r>
            <a:endParaRPr lang="en-US" sz="2000" dirty="0"/>
          </a:p>
        </p:txBody>
      </p:sp>
      <p:sp>
        <p:nvSpPr>
          <p:cNvPr id="6" name="正方形/長方形 47"/>
          <p:cNvSpPr/>
          <p:nvPr/>
        </p:nvSpPr>
        <p:spPr>
          <a:xfrm>
            <a:off x="4663440" y="1143000"/>
            <a:ext cx="4023360" cy="3474720"/>
          </a:xfrm>
          <a:prstGeom prst="rect">
            <a:avLst/>
          </a:prstGeom>
          <a:solidFill>
            <a:srgbClr val="FBE5D6"/>
          </a:solidFill>
          <a:ln/>
        </p:spPr>
      </p:sp>
      <p:sp>
        <p:nvSpPr>
          <p:cNvPr id="7" name="テキスト ボックス 48"/>
          <p:cNvSpPr txBox="1"/>
          <p:nvPr/>
        </p:nvSpPr>
        <p:spPr>
          <a:xfrm>
            <a:off x="493776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5A11"/>
                </a:solidFill>
              </a:rPr>
              <a:t>大変だったこと</a:t>
            </a:r>
            <a:endParaRPr lang="en-US" sz="2400" dirty="0"/>
          </a:p>
        </p:txBody>
      </p:sp>
      <p:sp>
        <p:nvSpPr>
          <p:cNvPr id="8" name="テキスト ボックス 49"/>
          <p:cNvSpPr txBox="1"/>
          <p:nvPr/>
        </p:nvSpPr>
        <p:spPr>
          <a:xfrm>
            <a:off x="4937760" y="192024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課題が多い時期との両立</a:t>
            </a:r>
            <a:endParaRPr lang="en-US" sz="20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寮生に注意するとき</a:t>
            </a:r>
            <a:endParaRPr lang="en-US" sz="2000" dirty="0"/>
          </a:p>
        </p:txBody>
      </p:sp>
      <p:sp>
        <p:nvSpPr>
          <p:cNvPr id="9" name="テキスト ボックス 50"/>
          <p:cNvSpPr txBox="1"/>
          <p:nvPr/>
        </p:nvSpPr>
        <p:spPr>
          <a:xfrm>
            <a:off x="4937760" y="36118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626"/>
                </a:solidFill>
              </a:rPr>
              <a:t>困ったときはRA同士で相談して、乗り切っています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51"/>
          <p:cNvSpPr txBox="1"/>
          <p:nvPr/>
        </p:nvSpPr>
        <p:spPr>
          <a:xfrm>
            <a:off x="640080" y="5486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B183"/>
                </a:solidFill>
              </a:rPr>
              <a:t>最後に</a:t>
            </a:r>
            <a:endParaRPr lang="en-US" sz="2000" dirty="0"/>
          </a:p>
        </p:txBody>
      </p:sp>
      <p:sp>
        <p:nvSpPr>
          <p:cNvPr id="3" name="テキスト ボックス 52"/>
          <p:cNvSpPr txBox="1"/>
          <p:nvPr/>
        </p:nvSpPr>
        <p:spPr>
          <a:xfrm>
            <a:off x="640080" y="100584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少しでも興味があれば、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ぜひ応募してみてください</a:t>
            </a:r>
            <a:endParaRPr lang="en-US" sz="3600" dirty="0"/>
          </a:p>
        </p:txBody>
      </p:sp>
      <p:sp>
        <p:nvSpPr>
          <p:cNvPr id="4" name="テキスト ボックス 53"/>
          <p:cNvSpPr txBox="1"/>
          <p:nvPr/>
        </p:nvSpPr>
        <p:spPr>
          <a:xfrm>
            <a:off x="640080" y="2606040"/>
            <a:ext cx="7863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特別なスキルや経験はいりません</a:t>
            </a:r>
            <a:endParaRPr lang="en-US" sz="2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わからないことは先輩RAがサポートします</a:t>
            </a:r>
            <a:endParaRPr lang="en-US" sz="2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このあと個別に質問も受け付けています</a:t>
            </a:r>
            <a:endParaRPr lang="en-US" sz="2200" dirty="0"/>
          </a:p>
        </p:txBody>
      </p:sp>
      <p:sp>
        <p:nvSpPr>
          <p:cNvPr id="5" name="テキスト ボックス 54"/>
          <p:cNvSpPr txBox="1"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9D9"/>
                </a:solidFill>
              </a:rPr>
              <a:t>ご清聴ありがとうございました</a:t>
            </a:r>
            <a:endParaRPr lang="en-US" sz="18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1691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メイリオ"/>
        <a:ea typeface="メイリオ"/>
        <a:cs typeface=""/>
        <a:font script="Jpan" typeface="メイリオ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メイリオ"/>
        <a:ea typeface="メイリオ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RA募集説明会</dc:title>
  <dc:subject/>
  <dc:creator/>
  <cp:lastModifiedBy/>
  <cp:revision>1</cp:revision>
  <dcterms:created xsi:type="dcterms:W3CDTF">2026-10-16T06:46:44Z</dcterms:created>
  <dcterms:modified xsi:type="dcterms:W3CDTF">2026-10-16T06:46:44Z</dcterms:modified>
</cp:coreProperties>
</file>