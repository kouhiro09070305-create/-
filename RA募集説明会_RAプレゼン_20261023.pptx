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紙" id="{fec1ba63-b010-a548-cf6a-636f8fab064b}">
          <p14:sldIdLst>
            <p14:sldId id="256"/>
          </p14:sldIdLst>
        </p14:section>
        <p14:section name="年間スケジュール" id="{7a121177-97e9-07f3-5ea5-a61042f03f2d}">
          <p14:sldIdLst>
            <p14:sldId id="257"/>
          </p14:sldIdLst>
        </p14:section>
        <p14:section name="業務内容" id="{a89b9345-ce45-1de7-819d-65b3d5b07540}">
          <p14:sldIdLst>
            <p14:sldId id="258"/>
          </p14:sldIdLst>
        </p14:section>
        <p14:section name="イベント紹介" id="{c2907576-f722-6f9f-ff69-abd4ee44b368}">
          <p14:sldIdLst>
            <p14:sldId id="259"/>
          </p14:sldIdLst>
        </p14:section>
        <p14:section name="やって良かったこと" id="{1b61d112-b16a-f1e5-bd9e-7cb73a5c7a10}">
          <p14:sldIdLst>
            <p14:sldId id="260"/>
          </p14:sldIdLst>
        </p14:section>
        <p14:section name="メッセージ" id="{bd891092-bbd9-613e-470c-0130a616d722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こんにちは。東大宮学生寮でRAをしている○○です。これから5分ほど、実際にRAとして活動している立場から、1年間の流れ、具体的な仕事、イベント、やってみて感じたことをお話しします。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ず1年間の流れです。春は新しい寮生の入寮サポートやオリエンテーション、歓迎会があり、1年で一番忙しい時期です。夏と秋にはクリーン大作戦、秋には防災訓練があります。長期休みの前後には寮生の帰省状況の確認なども行います。冬は新寮生の選考サポートと、次のRAへの引継ぎです。これに加えて、毎月RAミーティングと各階のフロアミーティング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に具体的な仕事です。中心になるのはフロアミーティングで、担当フロアの寮生に集まってもらい、ルールの確認や連絡をします。騒音などのトラブルがあったときは、まず両方の話を聞いて、必要なら寮母さんとも相談しながら解決します。月1回のRAミーティングでは大学や寮母さんに寮生の声を伝えています。ほかにも新寮生の案内、報告書や議事録の作成、防災訓練での避難誘導など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イベントの紹介です。左は4月の新入生歓迎会で、新しい寮生と在寮生が初めて顔を合わせる場です。RAが企画から当日の司会まで担当します。右は5月のクリーン大作戦で、寮生みんなで寮の周りを掃除します。ほかにもビンゴ大会や防災訓練などがあり、RAのアイデア次第で新しいイベントを企画することも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をやって良かったことは、学年や学科をこえた仲間ができたこと、寮生から「ありがとう」と言ってもらえること、そして人前で話したり意見をまとめたりする力がついたことです。寮費が免除になるのも大きなメリットです。一方で、課題が多い時期との両立や、寮生に注意をしなければならない場面は正直大変でした。でも、困ったときは一人で抱えず、ほかのRAや寮母さんに相談すれば必ず助けてもら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に、応募を考えている皆さんへ。RAに特別なスキルは必要ありません。「寮をもっと良くしたい」という気持ちがあれば十分です。仲間のRAや寮母さん、大学のサポートもあります。そして何より、自分自身が大きく成長できる経験です。このあと個別の相談にも対応しますので、少しでも興味があれば気軽に声をかけてください。ご清聴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photo" descr="/tmp/claude-0/-home-user--/df02d968-b5f5-5c15-93e8-b428a1ab583e/scratchpad/in/raz/ppt/media/image1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37760" y="0"/>
            <a:ext cx="420624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822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現役RAからのプレゼンテーション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914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RA募集説明会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0116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東大宮学生寮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743200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2"/>
                </a:solidFill>
              </a:rPr>
              <a:t>年間スケジュール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2"/>
                </a:solidFill>
              </a:rPr>
              <a:t>具体的な業務内容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2"/>
                </a:solidFill>
              </a:rPr>
              <a:t>イベント紹介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2"/>
                </a:solidFill>
              </a:rPr>
              <a:t>RAをやって良かったこと・大変だったこと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2"/>
                </a:solidFill>
              </a:rPr>
              <a:t>応募を考えている皆さんへ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4348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2026年10月23日（金）　大宮キャンパス 2号館 2103教室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年間スケジュール</a:t>
            </a:r>
            <a:endParaRPr lang="en-US" sz="2800" dirty="0"/>
          </a:p>
        </p:txBody>
      </p:sp>
      <p:sp>
        <p:nvSpPr>
          <p:cNvPr id="3" name="season dot 春"/>
          <p:cNvSpPr/>
          <p:nvPr/>
        </p:nvSpPr>
        <p:spPr>
          <a:xfrm>
            <a:off x="594360" y="1143000"/>
            <a:ext cx="640080" cy="64008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pic>
        <p:nvPicPr>
          <p:cNvPr id="4" name="season icon 春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298448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23444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春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 2〜4月</a:t>
            </a:r>
            <a:endParaRPr lang="en-US" sz="2000" dirty="0"/>
          </a:p>
        </p:txBody>
      </p:sp>
      <p:sp>
        <p:nvSpPr>
          <p:cNvPr id="6" name="season card 春"/>
          <p:cNvSpPr/>
          <p:nvPr/>
        </p:nvSpPr>
        <p:spPr>
          <a:xfrm>
            <a:off x="457200" y="1965960"/>
            <a:ext cx="1920240" cy="19659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66928" y="2075688"/>
            <a:ext cx="1700784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入寮サポート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オリエンテーション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履修登録相談会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新入生歓迎会</a:t>
            </a:r>
            <a:endParaRPr lang="en-US" sz="1200" dirty="0"/>
          </a:p>
        </p:txBody>
      </p:sp>
      <p:sp>
        <p:nvSpPr>
          <p:cNvPr id="8" name="season dot 夏"/>
          <p:cNvSpPr/>
          <p:nvPr/>
        </p:nvSpPr>
        <p:spPr>
          <a:xfrm>
            <a:off x="2697480" y="1143000"/>
            <a:ext cx="640080" cy="640080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pic>
        <p:nvPicPr>
          <p:cNvPr id="9" name="season icon 夏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928" y="129844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429000" y="123444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夏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 5〜8月</a:t>
            </a:r>
            <a:endParaRPr lang="en-US" sz="2000" dirty="0"/>
          </a:p>
        </p:txBody>
      </p:sp>
      <p:sp>
        <p:nvSpPr>
          <p:cNvPr id="11" name="season card 夏"/>
          <p:cNvSpPr/>
          <p:nvPr/>
        </p:nvSpPr>
        <p:spPr>
          <a:xfrm>
            <a:off x="2560320" y="1965960"/>
            <a:ext cx="1920240" cy="19659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670048" y="2075688"/>
            <a:ext cx="1700784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クリーン大作戦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夏休み期間の対応</a:t>
            </a:r>
            <a:endParaRPr lang="en-US" sz="1200" dirty="0"/>
          </a:p>
        </p:txBody>
      </p:sp>
      <p:sp>
        <p:nvSpPr>
          <p:cNvPr id="13" name="season dot 秋"/>
          <p:cNvSpPr/>
          <p:nvPr/>
        </p:nvSpPr>
        <p:spPr>
          <a:xfrm>
            <a:off x="4800600" y="1143000"/>
            <a:ext cx="640080" cy="640080"/>
          </a:xfrm>
          <a:prstGeom prst="ellipse">
            <a:avLst/>
          </a:prstGeom>
          <a:solidFill>
            <a:schemeClr val="accent5"/>
          </a:solidFill>
          <a:ln w="25400">
            <a:solidFill>
              <a:schemeClr val="bg1"/>
            </a:solidFill>
            <a:prstDash val="solid"/>
          </a:ln>
        </p:spPr>
      </p:sp>
      <p:pic>
        <p:nvPicPr>
          <p:cNvPr id="14" name="season icon 秋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8" y="1298448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532120" y="123444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秋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 9〜12月</a:t>
            </a:r>
            <a:endParaRPr lang="en-US" sz="2000" dirty="0"/>
          </a:p>
        </p:txBody>
      </p:sp>
      <p:sp>
        <p:nvSpPr>
          <p:cNvPr id="16" name="season card 秋"/>
          <p:cNvSpPr/>
          <p:nvPr/>
        </p:nvSpPr>
        <p:spPr>
          <a:xfrm>
            <a:off x="4663440" y="1965960"/>
            <a:ext cx="1920240" cy="19659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773168" y="2075688"/>
            <a:ext cx="1700784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防災訓練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クリーン大作戦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冬休み期間の対応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RA募集説明会</a:t>
            </a:r>
            <a:endParaRPr lang="en-US" sz="1200" dirty="0"/>
          </a:p>
        </p:txBody>
      </p:sp>
      <p:sp>
        <p:nvSpPr>
          <p:cNvPr id="18" name="season dot 冬"/>
          <p:cNvSpPr/>
          <p:nvPr/>
        </p:nvSpPr>
        <p:spPr>
          <a:xfrm>
            <a:off x="6903720" y="1143000"/>
            <a:ext cx="640080" cy="640080"/>
          </a:xfrm>
          <a:prstGeom prst="ellipse">
            <a:avLst/>
          </a:prstGeom>
          <a:solidFill>
            <a:schemeClr val="accent4"/>
          </a:solidFill>
          <a:ln w="25400">
            <a:solidFill>
              <a:schemeClr val="bg1"/>
            </a:solidFill>
            <a:prstDash val="solid"/>
          </a:ln>
        </p:spPr>
      </p:sp>
      <p:pic>
        <p:nvPicPr>
          <p:cNvPr id="19" name="season icon 冬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9168" y="1298448"/>
            <a:ext cx="329184" cy="32918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635240" y="123444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冬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 1月〜</a:t>
            </a:r>
            <a:endParaRPr lang="en-US" sz="2000" dirty="0"/>
          </a:p>
        </p:txBody>
      </p:sp>
      <p:sp>
        <p:nvSpPr>
          <p:cNvPr id="21" name="season card 冬"/>
          <p:cNvSpPr/>
          <p:nvPr/>
        </p:nvSpPr>
        <p:spPr>
          <a:xfrm>
            <a:off x="6766560" y="1965960"/>
            <a:ext cx="1920240" cy="19659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876288" y="2075688"/>
            <a:ext cx="1700784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新寮生の選考補助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次年度への引継ぎ</a:t>
            </a:r>
            <a:endParaRPr lang="en-US" sz="1200" dirty="0"/>
          </a:p>
        </p:txBody>
      </p:sp>
      <p:sp>
        <p:nvSpPr>
          <p:cNvPr id="23" name="monthly band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4" name="monthl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70248"/>
            <a:ext cx="274320" cy="2743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051560" y="416052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毎月の定例：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RAミーティング（大学・寮母さんと）／各階のフロアミーティング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具体的な業務内容</a:t>
            </a:r>
            <a:endParaRPr lang="en-US" sz="2800" dirty="0"/>
          </a:p>
        </p:txBody>
      </p:sp>
      <p:sp>
        <p:nvSpPr>
          <p:cNvPr id="3" name="work card 1"/>
          <p:cNvSpPr/>
          <p:nvPr/>
        </p:nvSpPr>
        <p:spPr>
          <a:xfrm>
            <a:off x="457200" y="114300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1E3A5F">
                <a:alpha val="12000"/>
              </a:srgbClr>
            </a:outerShdw>
          </a:effectLst>
        </p:spPr>
      </p:sp>
      <p:sp>
        <p:nvSpPr>
          <p:cNvPr id="4" name="work dot 1"/>
          <p:cNvSpPr/>
          <p:nvPr/>
        </p:nvSpPr>
        <p:spPr>
          <a:xfrm>
            <a:off x="640080" y="1325880"/>
            <a:ext cx="502920" cy="5029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work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444752"/>
            <a:ext cx="265176" cy="2651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61872" y="13258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フロアミーティング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94767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担当フロアの寮生を集め、ルールの確認や連絡事項を共有</a:t>
            </a:r>
            <a:endParaRPr lang="en-US" sz="1200" dirty="0"/>
          </a:p>
        </p:txBody>
      </p:sp>
      <p:sp>
        <p:nvSpPr>
          <p:cNvPr id="8" name="work card 2"/>
          <p:cNvSpPr/>
          <p:nvPr/>
        </p:nvSpPr>
        <p:spPr>
          <a:xfrm>
            <a:off x="3268980" y="114300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1E3A5F">
                <a:alpha val="12000"/>
              </a:srgbClr>
            </a:outerShdw>
          </a:effectLst>
        </p:spPr>
      </p:sp>
      <p:sp>
        <p:nvSpPr>
          <p:cNvPr id="9" name="work dot 2"/>
          <p:cNvSpPr/>
          <p:nvPr/>
        </p:nvSpPr>
        <p:spPr>
          <a:xfrm>
            <a:off x="3451860" y="1325880"/>
            <a:ext cx="502920" cy="5029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0" name="work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0732" y="1444752"/>
            <a:ext cx="265176" cy="26517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73652" y="13258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生活サポート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451860" y="194767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騒音などのトラブルは、まず双方の話を聞いて解決へ</a:t>
            </a:r>
            <a:endParaRPr lang="en-US" sz="1200" dirty="0"/>
          </a:p>
        </p:txBody>
      </p:sp>
      <p:sp>
        <p:nvSpPr>
          <p:cNvPr id="13" name="work card 3"/>
          <p:cNvSpPr/>
          <p:nvPr/>
        </p:nvSpPr>
        <p:spPr>
          <a:xfrm>
            <a:off x="6080760" y="114300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1E3A5F">
                <a:alpha val="12000"/>
              </a:srgbClr>
            </a:outerShdw>
          </a:effectLst>
        </p:spPr>
      </p:sp>
      <p:sp>
        <p:nvSpPr>
          <p:cNvPr id="14" name="work dot 3"/>
          <p:cNvSpPr/>
          <p:nvPr/>
        </p:nvSpPr>
        <p:spPr>
          <a:xfrm>
            <a:off x="6263640" y="1325880"/>
            <a:ext cx="502920" cy="5029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5" name="work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444752"/>
            <a:ext cx="265176" cy="26517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885432" y="13258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寮母さんとの連携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263640" y="194767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寮生の声を月1回のRAミーティングで共有・改善</a:t>
            </a:r>
            <a:endParaRPr lang="en-US" sz="1200" dirty="0"/>
          </a:p>
        </p:txBody>
      </p:sp>
      <p:sp>
        <p:nvSpPr>
          <p:cNvPr id="18" name="work card 4"/>
          <p:cNvSpPr/>
          <p:nvPr/>
        </p:nvSpPr>
        <p:spPr>
          <a:xfrm>
            <a:off x="457200" y="297180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1E3A5F">
                <a:alpha val="12000"/>
              </a:srgbClr>
            </a:outerShdw>
          </a:effectLst>
        </p:spPr>
      </p:sp>
      <p:sp>
        <p:nvSpPr>
          <p:cNvPr id="19" name="work dot 4"/>
          <p:cNvSpPr/>
          <p:nvPr/>
        </p:nvSpPr>
        <p:spPr>
          <a:xfrm>
            <a:off x="640080" y="3154680"/>
            <a:ext cx="502920" cy="5029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work icon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" y="3273552"/>
            <a:ext cx="265176" cy="26517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61872" y="31546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入退寮サポート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377647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新寮生の案内や、寮生活のルール説明を担当</a:t>
            </a:r>
            <a:endParaRPr lang="en-US" sz="1200" dirty="0"/>
          </a:p>
        </p:txBody>
      </p:sp>
      <p:sp>
        <p:nvSpPr>
          <p:cNvPr id="23" name="work card 5"/>
          <p:cNvSpPr/>
          <p:nvPr/>
        </p:nvSpPr>
        <p:spPr>
          <a:xfrm>
            <a:off x="3268980" y="297180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1E3A5F">
                <a:alpha val="12000"/>
              </a:srgbClr>
            </a:outerShdw>
          </a:effectLst>
        </p:spPr>
      </p:sp>
      <p:sp>
        <p:nvSpPr>
          <p:cNvPr id="24" name="work dot 5"/>
          <p:cNvSpPr/>
          <p:nvPr/>
        </p:nvSpPr>
        <p:spPr>
          <a:xfrm>
            <a:off x="3451860" y="3154680"/>
            <a:ext cx="502920" cy="5029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5" name="work icon 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0732" y="3273552"/>
            <a:ext cx="265176" cy="26517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73652" y="31546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報告書・議事録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3451860" y="377647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業務報告書やミーティング議事録をまとめる</a:t>
            </a:r>
            <a:endParaRPr lang="en-US" sz="1200" dirty="0"/>
          </a:p>
        </p:txBody>
      </p:sp>
      <p:sp>
        <p:nvSpPr>
          <p:cNvPr id="28" name="work card 6"/>
          <p:cNvSpPr/>
          <p:nvPr/>
        </p:nvSpPr>
        <p:spPr>
          <a:xfrm>
            <a:off x="6080760" y="297180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1E3A5F">
                <a:alpha val="12000"/>
              </a:srgbClr>
            </a:outerShdw>
          </a:effectLst>
        </p:spPr>
      </p:sp>
      <p:sp>
        <p:nvSpPr>
          <p:cNvPr id="29" name="work dot 6"/>
          <p:cNvSpPr/>
          <p:nvPr/>
        </p:nvSpPr>
        <p:spPr>
          <a:xfrm>
            <a:off x="6263640" y="3154680"/>
            <a:ext cx="502920" cy="5029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0" name="work icon 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2" y="3273552"/>
            <a:ext cx="265176" cy="26517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85432" y="31546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防災・緊急対応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6263640" y="377647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防災訓練では率先して避難誘導を行う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イベント紹介：寮生活を楽しく！</a:t>
            </a:r>
            <a:endParaRPr lang="en-US" sz="2800" dirty="0"/>
          </a:p>
        </p:txBody>
      </p:sp>
      <p:pic>
        <p:nvPicPr>
          <p:cNvPr id="3" name="event photo 1" descr="/tmp/claude-0/-home-user--/df02d968-b5f5-5c15-93e8-b428a1ab583e/scratchpad/in/raz/ppt/media/image1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97280"/>
            <a:ext cx="3977640" cy="21031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29184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4月　新入生歓迎会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6118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新寮生と在寮生が顔を合わせる最初のイベント。RAが企画・司会を担当</a:t>
            </a:r>
            <a:endParaRPr lang="en-US" sz="1200" dirty="0"/>
          </a:p>
        </p:txBody>
      </p:sp>
      <p:pic>
        <p:nvPicPr>
          <p:cNvPr id="6" name="event photo 2" descr="/tmp/claude-0/-home-user--/df02d968-b5f5-5c15-93e8-b428a1ab583e/scratchpad/in/raz/ppt/media/image16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09160" y="1097280"/>
            <a:ext cx="3977640" cy="21031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709160" y="329184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5月　クリーン大作戦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4709160" y="36118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寮生全員で寮の周辺を清掃。地域の方との関係づくりにも</a:t>
            </a:r>
            <a:endParaRPr lang="en-US" sz="1200" dirty="0"/>
          </a:p>
        </p:txBody>
      </p:sp>
      <p:sp>
        <p:nvSpPr>
          <p:cNvPr id="9" name="other events band"/>
          <p:cNvSpPr/>
          <p:nvPr/>
        </p:nvSpPr>
        <p:spPr>
          <a:xfrm>
            <a:off x="457200" y="4206240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0" name="idea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29768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05840" y="42062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ほかにも：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ビンゴ大会、防災訓練、秋のクリーン大作戦など。RAのアイデアで新しい企画もできます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RAをやって良かったこと・大変だったこと</a:t>
            </a:r>
            <a:endParaRPr lang="en-US" sz="2800" dirty="0"/>
          </a:p>
        </p:txBody>
      </p:sp>
      <p:sp>
        <p:nvSpPr>
          <p:cNvPr id="3" name="良かったこと card"/>
          <p:cNvSpPr/>
          <p:nvPr/>
        </p:nvSpPr>
        <p:spPr>
          <a:xfrm>
            <a:off x="457200" y="1143000"/>
            <a:ext cx="4572000" cy="35204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1E3A5F">
                <a:alpha val="12000"/>
              </a:srgbClr>
            </a:outerShdw>
          </a:effectLst>
        </p:spPr>
      </p:sp>
      <p:sp>
        <p:nvSpPr>
          <p:cNvPr id="4" name="良かったこと dot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良かったこと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" y="144932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3258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良かったこと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11680"/>
            <a:ext cx="4114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学年・学科をこえた仲間ができた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寮生から「ありがとう」と言ってもらえる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人前で話す力・調整する力が身についた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寮生の顔と名前がわかり、寮が居心地よくなった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寮費免除で、学業に集中しやすい</a:t>
            </a:r>
            <a:endParaRPr lang="en-US" sz="1400" dirty="0"/>
          </a:p>
        </p:txBody>
      </p:sp>
      <p:sp>
        <p:nvSpPr>
          <p:cNvPr id="8" name="大変だったこと card"/>
          <p:cNvSpPr/>
          <p:nvPr/>
        </p:nvSpPr>
        <p:spPr>
          <a:xfrm>
            <a:off x="5303520" y="1143000"/>
            <a:ext cx="3383280" cy="3520440"/>
          </a:xfrm>
          <a:prstGeom prst="roundRect">
            <a:avLst>
              <a:gd name="adj" fmla="val 2162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1E3A5F">
                <a:alpha val="12000"/>
              </a:srgbClr>
            </a:outerShdw>
          </a:effectLst>
        </p:spPr>
      </p:sp>
      <p:sp>
        <p:nvSpPr>
          <p:cNvPr id="9" name="大変だったこと dot"/>
          <p:cNvSpPr/>
          <p:nvPr/>
        </p:nvSpPr>
        <p:spPr>
          <a:xfrm>
            <a:off x="5532120" y="13258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0" name="大変だったこと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5564" y="1449324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172200" y="13258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大変だったこと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5532120" y="2011680"/>
            <a:ext cx="2926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学業・課題との両立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寮生に注意をしなければならない場面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寮生の「お手本」であり続けること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532120" y="36576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→ </a:t>
            </a:r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一人で抱えず、RA仲間や寮母さんに相談すれば大丈夫！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応募を考えている皆さんへ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914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一緒に、住みやすい寮をつくりませんか？</a:t>
            </a:r>
            <a:endParaRPr lang="en-US" sz="3200" dirty="0"/>
          </a:p>
        </p:txBody>
      </p:sp>
      <p:sp>
        <p:nvSpPr>
          <p:cNvPr id="4" name="msg dot 1"/>
          <p:cNvSpPr/>
          <p:nvPr/>
        </p:nvSpPr>
        <p:spPr>
          <a:xfrm>
            <a:off x="548640" y="233172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msg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4688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017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特別なスキルは不要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4290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「寮をもっと良くしたい」気持ちがあれば十分です</a:t>
            </a:r>
            <a:endParaRPr lang="en-US" sz="1200" dirty="0"/>
          </a:p>
        </p:txBody>
      </p:sp>
      <p:sp>
        <p:nvSpPr>
          <p:cNvPr id="8" name="msg dot 2"/>
          <p:cNvSpPr/>
          <p:nvPr/>
        </p:nvSpPr>
        <p:spPr>
          <a:xfrm>
            <a:off x="3291840" y="233172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msg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246888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291840" y="3017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仲間とサポートがある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3291840" y="34290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RA同士、寮母さん、大学が支えてくれます</a:t>
            </a:r>
            <a:endParaRPr lang="en-US" sz="1200" dirty="0"/>
          </a:p>
        </p:txBody>
      </p:sp>
      <p:sp>
        <p:nvSpPr>
          <p:cNvPr id="12" name="msg dot 3"/>
          <p:cNvSpPr/>
          <p:nvPr/>
        </p:nvSpPr>
        <p:spPr>
          <a:xfrm>
            <a:off x="6035040" y="233172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3" name="msg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46888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035040" y="3017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自分自身が成長できる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6035040" y="34290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ここでしかできない経験が、きっと将来に活きます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説明会のあと、個別のご相談にも対応します。気軽に声をかけてください！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 Dorm 2026">
  <a:themeElements>
    <a:clrScheme name="RA Dorm 2026">
      <a:dk1>
        <a:srgbClr val="1F2A37"/>
      </a:dk1>
      <a:lt1>
        <a:srgbClr val="FFFFFF"/>
      </a:lt1>
      <a:dk2>
        <a:srgbClr val="1E3A5F"/>
      </a:dk2>
      <a:lt2>
        <a:srgbClr val="EEF3F8"/>
      </a:lt2>
      <a:accent1>
        <a:srgbClr val="1E3A5F"/>
      </a:accent1>
      <a:accent2>
        <a:srgbClr val="F08A24"/>
      </a:accent2>
      <a:accent3>
        <a:srgbClr val="2E8B57"/>
      </a:accent3>
      <a:accent4>
        <a:srgbClr val="5B7FA6"/>
      </a:accent4>
      <a:accent5>
        <a:srgbClr val="D9534F"/>
      </a:accent5>
      <a:accent6>
        <a:srgbClr val="8FA9C4"/>
      </a:accent6>
      <a:hlink>
        <a:srgbClr val="1E3A5F"/>
      </a:hlink>
      <a:folHlink>
        <a:srgbClr val="5B7FA6"/>
      </a:folHlink>
    </a:clrScheme>
    <a:fontScheme name="RA Dorm 2026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RA募集説明会 現役RAプレゼン</dc:title>
  <dc:subject>PptxGenJS Presentation</dc:subject>
  <dc:creator>PptxGenJS</dc:creator>
  <cp:lastModifiedBy>PptxGenJS</cp:lastModifiedBy>
  <cp:revision>1</cp:revision>
  <dcterms:created xsi:type="dcterms:W3CDTF">2026-10-15T04:56:45Z</dcterms:created>
  <dcterms:modified xsi:type="dcterms:W3CDTF">2026-10-15T04:56:45Z</dcterms:modified>
</cp:coreProperties>
</file>